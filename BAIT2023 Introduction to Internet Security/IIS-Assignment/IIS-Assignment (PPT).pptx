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Montserrat"/>
      <p:regular r:id="rId45"/>
      <p:bold r:id="rId46"/>
      <p:italic r:id="rId47"/>
      <p:boldItalic r:id="rId48"/>
    </p:embeddedFont>
    <p:embeddedFont>
      <p:font typeface="Montserrat Medium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8B959F-2927-4ADE-A91D-89EAB05F050C}">
  <a:tblStyle styleId="{E98B959F-2927-4ADE-A91D-89EAB05F05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Montserrat-bold.fntdata"/><Relationship Id="rId45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boldItalic.fntdata"/><Relationship Id="rId47" Type="http://schemas.openxmlformats.org/officeDocument/2006/relationships/font" Target="fonts/Montserrat-italic.fntdata"/><Relationship Id="rId49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Medium-italic.fntdata"/><Relationship Id="rId50" Type="http://schemas.openxmlformats.org/officeDocument/2006/relationships/font" Target="fonts/MontserratMedium-bold.fntdata"/><Relationship Id="rId52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7cd622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7cd622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ba8297641_2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ba8297641_2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ba8297641_2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ba8297641_2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2a12dd9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2a12dd9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2a12dd9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2a12dd9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5d44a7f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5d44a7f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cc3959332b0865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cc3959332b0865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cc3959332b08657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cc3959332b08657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b391bac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b391bac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6176ca065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6176ca06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6176ca06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6176ca06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176ca065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6176ca06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6176ca06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6176ca06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73e6157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73e6157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73e61577d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73e61577d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73e61577d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73e61577d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2a12dd9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2a12dd9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2b1def8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2b1def8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5f598870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5f598870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5fd8337b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5fd8337b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45fd8337b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45fd8337b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e24f4cf8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3e24f4cf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e24f4cf81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3e24f4cf81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e24f4cf81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e24f4cf81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e24f4cf81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e24f4cf8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e24f4cf81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e24f4cf81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f6c3fbe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4f6c3fbe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3e24f4cf81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3e24f4cf81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e24f4cf81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3e24f4cf81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3e238120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3e238120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3e238120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3e238120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e2381204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3e2381204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e2381204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3e2381204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5fd8337b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45fd8337b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45fd8337b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45fd8337b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5f598870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45f598870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45f598870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45f598870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510fdee4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510fdee4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2ED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1087500" y="497400"/>
            <a:ext cx="11319000" cy="4148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-48750" y="-10575"/>
            <a:ext cx="9241500" cy="2052600"/>
          </a:xfrm>
          <a:prstGeom prst="rect">
            <a:avLst/>
          </a:prstGeom>
          <a:effectLst>
            <a:outerShdw rotWithShape="0" algn="bl" dir="2820000" dist="66675">
              <a:schemeClr val="lt1"/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Internet Security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 flipH="1">
            <a:off x="-8300" y="-10575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3"/>
          <p:cNvCxnSpPr/>
          <p:nvPr/>
        </p:nvCxnSpPr>
        <p:spPr>
          <a:xfrm flipH="1">
            <a:off x="5485200" y="4145700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4570650" y="2530825"/>
            <a:ext cx="2227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Boo Kai Jie </a:t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 Jhun Hou</a:t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Low Kim Hong</a:t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Liew Zi Li </a:t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Lim Jun Wei</a:t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Ong Yi Xin</a:t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Chia Ming Yi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326075" y="1954050"/>
            <a:ext cx="47175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79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RSDY2S3G5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945775" y="2530825"/>
            <a:ext cx="22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 Members: </a:t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-1087500" y="497400"/>
            <a:ext cx="11319000" cy="4148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type="ctrTitle"/>
          </p:nvPr>
        </p:nvSpPr>
        <p:spPr>
          <a:xfrm>
            <a:off x="-154825" y="1984450"/>
            <a:ext cx="9241500" cy="1164000"/>
          </a:xfrm>
          <a:prstGeom prst="rect">
            <a:avLst/>
          </a:prstGeom>
          <a:effectLst>
            <a:outerShdw rotWithShape="0" algn="bl" dir="2820000" dist="66675">
              <a:schemeClr val="lt1"/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Task 1</a:t>
            </a:r>
            <a:endParaRPr b="1" sz="7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 flipH="1">
            <a:off x="-8300" y="-10575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4"/>
          <p:cNvCxnSpPr/>
          <p:nvPr/>
        </p:nvCxnSpPr>
        <p:spPr>
          <a:xfrm flipH="1">
            <a:off x="5485200" y="4145700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6" name="Google Shape;76;p15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{E98B959F-2927-4ADE-A91D-89EAB05F050C}</a:tableStyleId>
              </a:tblPr>
              <a:tblGrid>
                <a:gridCol w="2324100"/>
                <a:gridCol w="6310050"/>
              </a:tblGrid>
              <a:tr h="8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Cryptography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Securing information and communications through the use of codes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Use math 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algorithm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and keys for data conversion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Importance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Minimize personal data exposure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Ensure data integrity &amp; maximize data trustworthiness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Ensure accountability by preventing from action denying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Application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Secure Communication Protocols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Secure Data Storage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E-commerce and Financial Transactions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Secure Emails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Google Shape;82;p16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{E98B959F-2927-4ADE-A91D-89EAB05F050C}</a:tableStyleId>
              </a:tblPr>
              <a:tblGrid>
                <a:gridCol w="2779650"/>
                <a:gridCol w="5854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Computer science technique to ensure security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Concepts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Encryption (Plain text -&gt; Ciphertext)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Symmetric 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Asymmetric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Decryption (Ciphertext -&gt; Plain text)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Goals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Confidentiality (authorized parties)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Authentication (genuine and trustworthy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Integrity (data unchanged))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Fundamentals of Cryptography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7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{E98B959F-2927-4ADE-A91D-89EAB05F050C}</a:tableStyleId>
              </a:tblPr>
              <a:tblGrid>
                <a:gridCol w="2779650"/>
                <a:gridCol w="5854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Single key for both encrypt &amp; decrypt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Algorithm - AES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Advanced Encryption Standard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Symmetric block cipher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Fixed-size blocks (128 bits)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SubBytes, ShiftRow, MixColumns, AddRoundKey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Key size ? -&gt; repeat steps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Algorithm - ChaCha20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Stream cipher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Pseudo-random keystream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256-bit key, 23-bit counter, 96-bit nonce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4x4 matrix of 32-bit words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Symmetric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200" y="857937"/>
            <a:ext cx="5703600" cy="34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0600" y="226487"/>
            <a:ext cx="4690524" cy="469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416" y="857925"/>
            <a:ext cx="4012413" cy="298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8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{E98B959F-2927-4ADE-A91D-89EAB05F050C}</a:tableStyleId>
              </a:tblPr>
              <a:tblGrid>
                <a:gridCol w="2779650"/>
                <a:gridCol w="585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Strength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Efficiency and speed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Large amount of data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Minimal computational overhead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Simple to implement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Weakness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Key distribution (hard securely share)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Lacks scalability (require unique)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Easily</a:t>
                      </a: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tempered (X built-in authentication)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Compare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Asymmetric encryption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Secure, Low speed, Complex to implement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 Cases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Banking Industry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Payment Application (Credit Card)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Process large amount data daily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Used for data at rest (Database - sensitive data)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Symmetric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19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{E98B959F-2927-4ADE-A91D-89EAB05F050C}</a:tableStyleId>
              </a:tblPr>
              <a:tblGrid>
                <a:gridCol w="2779650"/>
                <a:gridCol w="5854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Pair of keys (public key &amp; private key) </a:t>
                      </a: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for encryption &amp; decryption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Characteristics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Preparation of key pair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Unique key pairs from sender and receiver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 redundant keys used between sender and receiver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Elimination of secure key exchange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Lower performance compared to symmetric cryptography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Algorithms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RSA (Rivest-Shamir-Adleman)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Diffie-Hellman Key Exchange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Elliptic Curve Cryptographic (ECC)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Digital Signature Algorithm (DSA)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Asymmetric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20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{E98B959F-2927-4ADE-A91D-89EAB05F050C}</a:tableStyleId>
              </a:tblPr>
              <a:tblGrid>
                <a:gridCol w="1893450"/>
                <a:gridCol w="67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Strengths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Implementation of Public and Private Key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Message Authentication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Non-Repudiation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Weaknesses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Slow Performance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Lack of Public Key Authentication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Key Management Challenges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Compare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Asymmetric Cryptography vs Symmetric Cryptography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1" marL="9144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○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Number of keys used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1" marL="9144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○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Performance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1" marL="9144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○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Security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Asymmetric Cryptography vs Hash Functions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1" marL="9144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○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Objectives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1" marL="9144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○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Security basis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1" marL="9144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○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Reversibility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228600" lvl="0" marL="45720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Asymmetric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21"/>
          <p:cNvGraphicFramePr/>
          <p:nvPr/>
        </p:nvGraphicFramePr>
        <p:xfrm>
          <a:off x="338925" y="108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{E98B959F-2927-4ADE-A91D-89EAB05F050C}</a:tableStyleId>
              </a:tblPr>
              <a:tblGrid>
                <a:gridCol w="2779650"/>
                <a:gridCol w="585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0942A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 Cases</a:t>
                      </a:r>
                      <a:endParaRPr b="1" sz="1600">
                        <a:solidFill>
                          <a:srgbClr val="0942A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Digital Signatures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Key Exchange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-317500" lvl="0" marL="45720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42A1"/>
                        </a:buClr>
                        <a:buSzPts val="1400"/>
                        <a:buFont typeface="Montserrat Medium"/>
                        <a:buChar char="●"/>
                      </a:pPr>
                      <a:r>
                        <a:rPr lang="en">
                          <a:solidFill>
                            <a:srgbClr val="0942A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Cryptocurrency</a:t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942A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Asymmetric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Hash Function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369600" y="1028700"/>
            <a:ext cx="8404800" cy="12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Definition: </a:t>
            </a: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Hash functions are essential tools in cryptography for ensuring data integrity and security.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Purpose: </a:t>
            </a: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They map input data to a fixed-length output, enabling efficient and secure data processing.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369600" y="2312700"/>
            <a:ext cx="8404800" cy="1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Key Characteristics of Hash Functions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Deterministic: Always produce the same output for the same input.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Efficiency: Fast computation irrespective of input size.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Fixed Output Size: Ensures uniformity, regardless of the input length.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Security Features: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Pre-image resistance: Difficult to determine the original input.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Second pre-image resistance: Hard to find another input producing the same hash.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Collision resistance: Prevents two different inputs from producing the same hash.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Avalanche effect: Small input change leads to a significantly different hash.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Hash Function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369600" y="919225"/>
            <a:ext cx="84048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Algorithms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MD5: Previously widely used, now insecure due to collision vulnerabilities.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SHA-1: Known weaknesses, no longer recommended.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SHA-2: Includes SHA-256, SHA-384, and SHA-512. SHA-256 is widely used, especially in blockchain technology.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SHA-3: Designed for enhanced security and resistance to modern cryptographic attacks.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425775" y="2591550"/>
            <a:ext cx="3713400" cy="207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Strengths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Data Integrity: Detects tampering by verifying hash consistency.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Efficiency: Fast processing of large data sets, making them ideal for authentication and digital forensics.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Versatility: Widely used in password protection, MACs, blockchain, and more.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4228600" y="2591550"/>
            <a:ext cx="45459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Weaknesses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Non-reversibility: Once hashed, data cannot be retrieved (password recovery limitations).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Collision Vulnerabilities: MD5 and SHA-1 are susceptible to attacks, reducing security.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Quantum Computing Threat: Future quantum computers may break current hash functions, prompting the need for quantum-resistant algorithms.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Hash Function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369600" y="919225"/>
            <a:ext cx="84048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Comparison with Other Cryptographic Techniques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Symmetric </a:t>
            </a: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ncryption: Uses a single key for encryption and decryption.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Asymmetric Encryption: Uses public-private key pairs, slower but more secure.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Hash Functions: One-way functions with a fixed output size, ideal for data integrity and authentication.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 Cases…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Digital Signatures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Password Storage and Authentication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Blockchain and Cryptocurrencies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File Integrity Verification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Clr>
                <a:srgbClr val="0942A1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SSL/TLS Secure Communication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Hash Function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369600" y="1446575"/>
            <a:ext cx="84048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Digital Signatures: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Purpose: Ensure the authenticity and integrity of messages/documents.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How it Works: A hash of the message is signed with the sender's private key. The recipient verifies the signature by comparing the decrypted hash with the freshly computed hash of the received message.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Applications: Legal contracts, secure email (PGP, S/MIME), software distribution.</a:t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Password Storage and Authentication: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Purpose: Protect user credentials from being exposed, even if databases are compromised.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How it Works: Passwords are hashed before storage. On login, the input password is hashed and compared to the stored hash.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Enhancements: Salted hashes make it more secure against precomputed attacks.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Applications: Online platforms, operating systems, and authentication services.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369600" y="1058750"/>
            <a:ext cx="3000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9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 Cases…</a:t>
            </a:r>
            <a:endParaRPr b="1" sz="19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Cryptography Types - Hash Function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6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69600" y="999900"/>
            <a:ext cx="84048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Blockchain and Cryptocurrencies: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Purpose: Ensure the security and integrity of decentralized ledgers.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How it Works: Hash functions link blocks in a blockchain, forming a secure and immutable chain. Any modification to a block alters its hash, making tampering evident.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Applications: Bitcoin (SHA-256), Ethereum (Keccak-256), and other blockchain technologies.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File Integrity Verification: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Purpose: Verify the authenticity of files during transmission or storage.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How it Works: A hash is generated for a file and shared by the provider. The user checks if the downloaded file's hash matches the provided hash to confirm it's unaltered.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Applications: Software downloads, cloud storage, and forensic investigations.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SSL/TLS Secure Communication: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Purpose: Ensure secure communication over the internet.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How it Works: Hash functions are used in Message Authentication Codes (MACs) to ensure data integrity in SSL/TLS protocols.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Applications: HTTPS encryption, online banking, e-commerce transactions, and private communications.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Major Cryptographic Protocols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369600" y="919225"/>
            <a:ext cx="84048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Essential for securing digital communications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Ensure confidentiality, integrity, and authentication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Two main types: Symmetric &amp; Asymmetric 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456800" y="1717400"/>
            <a:ext cx="2059500" cy="31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Symmetric 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Uses a single key for encryption &amp; decryption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Advanced Encryption Standard (AES)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Secures web traffic (HTTPS)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Protects files (VeraCrypt, BitLocker)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Enables end-to-end encryption (WhatsApp, Signal)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Used in VPNs for secure data transmission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2587450" y="1717400"/>
            <a:ext cx="1958700" cy="31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b="1"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ymmetric </a:t>
            </a:r>
            <a:endParaRPr b="1"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Uses a public key for encryption &amp; private key for decryption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Rivest-Shamir-Adleman (RSA)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Secures web connections (SSL/TLS)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Used in secure emails (PGP, S/MIME)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Enables digital signatures for document integrity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4617300" y="1570950"/>
            <a:ext cx="20595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Hybrid Cryptographic Protocols</a:t>
            </a:r>
            <a:endParaRPr sz="9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Combining symmetric &amp; asymmetric cryptography for better security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TLS (Transport Layer Security) Protocol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Uses RSA for key exchange &amp; AES for encryption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Protects online transactions (banking, e-commerce, government websites)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Tokenization &amp; HMAC (Hash-based Message Authentication Code)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Used in financia</a:t>
            </a: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l </a:t>
            </a: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transactions for fraud prevention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6747950" y="1570950"/>
            <a:ext cx="20595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Cryptographic Protocols in Blockchain &amp; Digital Security</a:t>
            </a:r>
            <a:endParaRPr sz="9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Elliptic-Curve Cryptography (ECC)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Secure authentication &amp; digital signatures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Cryptographic Hash Functions (SHA-256, Keccak-256)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Data integrity &amp; protection against tampering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100"/>
              </a:spcBef>
              <a:spcAft>
                <a:spcPts val="0"/>
              </a:spcAft>
              <a:buClr>
                <a:srgbClr val="0942A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Blockchain security (Bitcoin, Ethereum, IBM Food Trust)</a:t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1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Challenges 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369600" y="919225"/>
            <a:ext cx="84048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Quantum Computing Threats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Quantum computers can break RSA &amp; ECC encryption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Sensitive data (financial, medical, government) at risk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Research into quantum-resistant algorithms (lattice-based, code-based, hash-based)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Practical implementation of post-quantum cryptography remains challenging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Key Management Issues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Poor generation, distribution, and storage of cryptographic keys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Weak key management leads to unauthorized access &amp; data breaches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Solutions: Hardware Security Modules (HSMs), strong key rotation, multi-factor authentication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Cloud computing &amp; distributed systems pose additional risks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Regulatory Compliance Challenges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Data protection laws require encryption for security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Governments advocate for encryption backdoors for security investigations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Risk: Backdoors may introduce vulnerabilities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Ongoing debate between privacy, security, and law enforcement needs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Future Trends</a:t>
            </a:r>
            <a:endParaRPr b="1" sz="3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9"/>
          <p:cNvSpPr txBox="1"/>
          <p:nvPr/>
        </p:nvSpPr>
        <p:spPr>
          <a:xfrm>
            <a:off x="6036250" y="0"/>
            <a:ext cx="305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Chia Ming Yi</a:t>
            </a:r>
            <a:endParaRPr sz="1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369600" y="919225"/>
            <a:ext cx="4206000" cy="4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Post-Quantum Cryptography (PQC)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Designed to resist quantum-based attacks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NIST standardization process evaluating secure algorithms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Hybrid approaches: Combining classical and quantum-resistant cryptography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Homomorphic Encryption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Enables computation on encrypted data without decryption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Enhances data privacy in cloud computing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Still in early development but expected to play a key role in future security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Quantum Key Distribution (QKD)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Uses quantum mechanics for secure key exchange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Theoretically unbreakable encryption (interception alters the key)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Challenges: High costs &amp; infrastructural limitations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4497175" y="872775"/>
            <a:ext cx="4206000" cy="4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Bring Your Own Encryption (BYOE)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Organizations use their own encryption &amp; key management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Reduces reliance on third-party cloud providers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Ensures greater control over sensitive data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Automation &amp; PKI Management</a:t>
            </a:r>
            <a:endParaRPr b="1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Increasing need for automated certificate revocation &amp; renewal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Addresses shorter certificate lifespans &amp; quantum security threats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80000"/>
              </a:lnSpc>
              <a:spcBef>
                <a:spcPts val="400"/>
              </a:spcBef>
              <a:spcAft>
                <a:spcPts val="40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Expected to enhance security &amp; efficiency in cryptographic systems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>
            <a:off x="-1087500" y="497400"/>
            <a:ext cx="11319000" cy="4148700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type="ctrTitle"/>
          </p:nvPr>
        </p:nvSpPr>
        <p:spPr>
          <a:xfrm>
            <a:off x="-48750" y="675550"/>
            <a:ext cx="9241500" cy="2052600"/>
          </a:xfrm>
          <a:prstGeom prst="rect">
            <a:avLst/>
          </a:prstGeom>
          <a:effectLst>
            <a:outerShdw rotWithShape="0" algn="bl" dir="2820000" dist="66675">
              <a:schemeClr val="lt1"/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Task 2</a:t>
            </a:r>
            <a:endParaRPr b="1" sz="4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311700" y="2728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79">
              <a:solidFill>
                <a:srgbClr val="0942A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3" name="Google Shape;203;p30"/>
          <p:cNvCxnSpPr/>
          <p:nvPr/>
        </p:nvCxnSpPr>
        <p:spPr>
          <a:xfrm flipH="1">
            <a:off x="-8300" y="-10575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0"/>
          <p:cNvCxnSpPr/>
          <p:nvPr/>
        </p:nvCxnSpPr>
        <p:spPr>
          <a:xfrm flipH="1">
            <a:off x="5485200" y="4145700"/>
            <a:ext cx="3658800" cy="997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1"/>
          <p:cNvSpPr txBox="1"/>
          <p:nvPr/>
        </p:nvSpPr>
        <p:spPr>
          <a:xfrm>
            <a:off x="531400" y="294425"/>
            <a:ext cx="8191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3" name="Google Shape;213;p31"/>
          <p:cNvSpPr txBox="1"/>
          <p:nvPr/>
        </p:nvSpPr>
        <p:spPr>
          <a:xfrm>
            <a:off x="21550" y="1774575"/>
            <a:ext cx="9144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ctr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3700"/>
              <a:buFont typeface="Montserrat"/>
              <a:buChar char="●"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Background of Blockchain in Cybersecurity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3550" lvl="0" marL="457200" rtl="0" algn="ctr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3700"/>
              <a:buFont typeface="Montserrat"/>
              <a:buChar char="●"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Importance of Blockchain in Cybersecurity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21550" y="940725"/>
            <a:ext cx="9144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Task 2 : </a:t>
            </a: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Part A 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2"/>
          <p:cNvSpPr txBox="1"/>
          <p:nvPr>
            <p:ph idx="4294967295" type="title"/>
          </p:nvPr>
        </p:nvSpPr>
        <p:spPr>
          <a:xfrm>
            <a:off x="269725" y="15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Background </a:t>
            </a:r>
            <a:endParaRPr b="1" sz="18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169950" y="890375"/>
            <a:ext cx="8804100" cy="40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2000"/>
              <a:buChar char="●"/>
            </a:pPr>
            <a:r>
              <a:rPr b="1" lang="en" sz="2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Blockchain in Cybersecurity</a:t>
            </a:r>
            <a:endParaRPr b="1" sz="20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700"/>
              <a:buFont typeface="Montserrat"/>
              <a:buAutoNum type="arabicPeriod"/>
            </a:pPr>
            <a:r>
              <a:rPr b="1" lang="en" sz="1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Decentralized &amp; Distributed Ledger: </a:t>
            </a:r>
            <a:endParaRPr b="1" sz="1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700"/>
              <a:buFont typeface="Montserrat"/>
              <a:buChar char="-"/>
            </a:pPr>
            <a:r>
              <a:rPr lang="en" sz="1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Unlike traditional centralized systems, blockchain stores data across multiple nodes, reducing the risk of a single point of failure.</a:t>
            </a:r>
            <a:endParaRPr sz="1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700"/>
              <a:buFont typeface="Montserrat"/>
              <a:buAutoNum type="arabicPeriod"/>
            </a:pPr>
            <a:r>
              <a:rPr b="1" lang="en" sz="1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Immutability &amp; Transparency: </a:t>
            </a:r>
            <a:endParaRPr b="1" sz="1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700"/>
              <a:buFont typeface="Montserrat"/>
              <a:buChar char="-"/>
            </a:pPr>
            <a:r>
              <a:rPr lang="en" sz="1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Once a record is added, it cannot be altered without consensus, preventing tampering and ensuring trust.</a:t>
            </a:r>
            <a:endParaRPr sz="1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700"/>
              <a:buFont typeface="Montserrat"/>
              <a:buAutoNum type="arabicPeriod"/>
            </a:pPr>
            <a:r>
              <a:rPr b="1" lang="en" sz="1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Cryptographic Security: </a:t>
            </a:r>
            <a:endParaRPr b="1" sz="1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700"/>
              <a:buFont typeface="Montserrat"/>
              <a:buChar char="-"/>
            </a:pPr>
            <a:r>
              <a:rPr lang="en" sz="1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Advanced encryption methods protect data, ensuring only authorized users can access sensitive information.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4562400" y="1780950"/>
            <a:ext cx="458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3" name="Google Shape;223;p32"/>
          <p:cNvCxnSpPr/>
          <p:nvPr/>
        </p:nvCxnSpPr>
        <p:spPr>
          <a:xfrm>
            <a:off x="263725" y="810750"/>
            <a:ext cx="853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4294967295"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Why Blockchain is Essential for Cybersecurity</a:t>
            </a: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8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121775" y="1017225"/>
            <a:ext cx="8804100" cy="41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900"/>
              <a:buChar char="●"/>
            </a:pPr>
            <a:r>
              <a:rPr b="1" lang="en" sz="19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Importance of Blockchain in Cybersecurity</a:t>
            </a:r>
            <a:endParaRPr b="1" sz="19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842A1"/>
                </a:solidFill>
              </a:rPr>
              <a:t>🔹 </a:t>
            </a:r>
            <a:r>
              <a:rPr b="1" lang="en" sz="1700">
                <a:solidFill>
                  <a:srgbClr val="0842A1"/>
                </a:solidFill>
              </a:rPr>
              <a:t>1. Data Integrity &amp; Tamper Resistance</a:t>
            </a:r>
            <a:endParaRPr b="1" sz="1700">
              <a:solidFill>
                <a:srgbClr val="0842A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842A1"/>
              </a:buClr>
              <a:buSzPts val="1700"/>
              <a:buChar char="●"/>
            </a:pPr>
            <a:r>
              <a:rPr lang="en" sz="1700">
                <a:solidFill>
                  <a:srgbClr val="0842A1"/>
                </a:solidFill>
              </a:rPr>
              <a:t>Cryptographic linking ensures data remains unaltered.</a:t>
            </a:r>
            <a:endParaRPr sz="1700">
              <a:solidFill>
                <a:srgbClr val="0842A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42A1"/>
              </a:buClr>
              <a:buSzPts val="1700"/>
              <a:buChar char="●"/>
            </a:pPr>
            <a:r>
              <a:rPr lang="en" sz="1700">
                <a:solidFill>
                  <a:srgbClr val="0842A1"/>
                </a:solidFill>
              </a:rPr>
              <a:t>Any tampering is instantly detected, protecting sensitive information.</a:t>
            </a:r>
            <a:endParaRPr sz="1700">
              <a:solidFill>
                <a:srgbClr val="08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842A1"/>
                </a:solidFill>
              </a:rPr>
              <a:t>🔹 </a:t>
            </a:r>
            <a:r>
              <a:rPr b="1" lang="en" sz="1700">
                <a:solidFill>
                  <a:srgbClr val="0842A1"/>
                </a:solidFill>
              </a:rPr>
              <a:t>2. Decentralization: Eliminating Single Points of Failure</a:t>
            </a:r>
            <a:endParaRPr b="1" sz="1700">
              <a:solidFill>
                <a:srgbClr val="0842A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842A1"/>
              </a:buClr>
              <a:buSzPts val="1700"/>
              <a:buChar char="●"/>
            </a:pPr>
            <a:r>
              <a:rPr lang="en" sz="1700">
                <a:solidFill>
                  <a:srgbClr val="0842A1"/>
                </a:solidFill>
              </a:rPr>
              <a:t>Unlike centralized systems, blockchain spreads data across multiple nodes.</a:t>
            </a:r>
            <a:endParaRPr sz="1700">
              <a:solidFill>
                <a:srgbClr val="0842A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42A1"/>
              </a:buClr>
              <a:buSzPts val="1700"/>
              <a:buChar char="●"/>
            </a:pPr>
            <a:r>
              <a:rPr lang="en" sz="1700">
                <a:solidFill>
                  <a:srgbClr val="0842A1"/>
                </a:solidFill>
              </a:rPr>
              <a:t>Even if some nodes are attacked, the network remains secure.</a:t>
            </a:r>
            <a:endParaRPr sz="1700">
              <a:solidFill>
                <a:srgbClr val="08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842A1"/>
                </a:solidFill>
              </a:rPr>
              <a:t>🔹 </a:t>
            </a:r>
            <a:r>
              <a:rPr b="1" lang="en" sz="1700">
                <a:solidFill>
                  <a:srgbClr val="0842A1"/>
                </a:solidFill>
              </a:rPr>
              <a:t>3. Strong Encryption &amp; Privacy</a:t>
            </a:r>
            <a:endParaRPr b="1" sz="1700">
              <a:solidFill>
                <a:srgbClr val="0842A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842A1"/>
              </a:buClr>
              <a:buSzPts val="1700"/>
              <a:buChar char="●"/>
            </a:pPr>
            <a:r>
              <a:rPr lang="en" sz="1700">
                <a:solidFill>
                  <a:srgbClr val="0842A1"/>
                </a:solidFill>
              </a:rPr>
              <a:t>Advanced encryption protects transactions and sensitive data.</a:t>
            </a:r>
            <a:endParaRPr sz="1700">
              <a:solidFill>
                <a:srgbClr val="0842A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42A1"/>
              </a:buClr>
              <a:buSzPts val="1700"/>
              <a:buChar char="●"/>
            </a:pPr>
            <a:r>
              <a:rPr lang="en" sz="1700">
                <a:solidFill>
                  <a:srgbClr val="0842A1"/>
                </a:solidFill>
              </a:rPr>
              <a:t>Balances transparency with privacy, ensuring secure access control.</a:t>
            </a:r>
            <a:endParaRPr sz="1700">
              <a:solidFill>
                <a:srgbClr val="08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4562400" y="1780950"/>
            <a:ext cx="458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2" name="Google Shape;232;p33"/>
          <p:cNvCxnSpPr/>
          <p:nvPr/>
        </p:nvCxnSpPr>
        <p:spPr>
          <a:xfrm flipH="1" rot="10800000">
            <a:off x="240575" y="930600"/>
            <a:ext cx="85665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34"/>
          <p:cNvSpPr txBox="1"/>
          <p:nvPr>
            <p:ph idx="4294967295"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Why Blockchain is Essential for Cybersecurity </a:t>
            </a:r>
            <a:endParaRPr b="1" sz="18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121775" y="1017225"/>
            <a:ext cx="88041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42A1"/>
              </a:buClr>
              <a:buSzPts val="2100"/>
              <a:buChar char="●"/>
            </a:pPr>
            <a:r>
              <a:rPr b="1" lang="en" sz="2100">
                <a:solidFill>
                  <a:srgbClr val="0842A1"/>
                </a:solidFill>
                <a:latin typeface="Montserrat"/>
                <a:ea typeface="Montserrat"/>
                <a:cs typeface="Montserrat"/>
                <a:sym typeface="Montserrat"/>
              </a:rPr>
              <a:t>Importance of Blockchain in Cybersecurity</a:t>
            </a:r>
            <a:endParaRPr b="1" sz="2100">
              <a:solidFill>
                <a:srgbClr val="08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842A1"/>
                </a:solidFill>
              </a:rPr>
              <a:t>🔹 </a:t>
            </a:r>
            <a:r>
              <a:rPr b="1" lang="en" sz="2000">
                <a:solidFill>
                  <a:srgbClr val="0842A1"/>
                </a:solidFill>
              </a:rPr>
              <a:t>4. Fraud Prevention &amp; Authentication</a:t>
            </a:r>
            <a:endParaRPr b="1" sz="2000">
              <a:solidFill>
                <a:srgbClr val="0842A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842A1"/>
              </a:buClr>
              <a:buSzPts val="2000"/>
              <a:buChar char="●"/>
            </a:pPr>
            <a:r>
              <a:rPr lang="en" sz="2000">
                <a:solidFill>
                  <a:srgbClr val="0842A1"/>
                </a:solidFill>
              </a:rPr>
              <a:t>Secure identity management reduces identity theft and fraud.</a:t>
            </a:r>
            <a:endParaRPr sz="2000">
              <a:solidFill>
                <a:srgbClr val="0842A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42A1"/>
              </a:buClr>
              <a:buSzPts val="2000"/>
              <a:buChar char="●"/>
            </a:pPr>
            <a:r>
              <a:rPr lang="en" sz="2000">
                <a:solidFill>
                  <a:srgbClr val="0842A1"/>
                </a:solidFill>
              </a:rPr>
              <a:t>Multi-signature authentication adds extra layers of security.</a:t>
            </a:r>
            <a:endParaRPr sz="2000">
              <a:solidFill>
                <a:srgbClr val="08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842A1"/>
                </a:solidFill>
              </a:rPr>
              <a:t>🔹 </a:t>
            </a:r>
            <a:r>
              <a:rPr b="1" lang="en" sz="2000">
                <a:solidFill>
                  <a:srgbClr val="0842A1"/>
                </a:solidFill>
              </a:rPr>
              <a:t>5. Defense Against Cyber Threats</a:t>
            </a:r>
            <a:endParaRPr b="1" sz="2000">
              <a:solidFill>
                <a:srgbClr val="0842A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842A1"/>
              </a:buClr>
              <a:buSzPts val="2000"/>
              <a:buChar char="●"/>
            </a:pPr>
            <a:r>
              <a:rPr lang="en" sz="2000">
                <a:solidFill>
                  <a:srgbClr val="0842A1"/>
                </a:solidFill>
              </a:rPr>
              <a:t>Real-time monitoring detects and prevents cyberattacks.</a:t>
            </a:r>
            <a:endParaRPr sz="2000">
              <a:solidFill>
                <a:srgbClr val="0842A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842A1"/>
              </a:buClr>
              <a:buSzPts val="2000"/>
              <a:buChar char="●"/>
            </a:pPr>
            <a:r>
              <a:rPr lang="en" sz="2000">
                <a:solidFill>
                  <a:srgbClr val="0842A1"/>
                </a:solidFill>
              </a:rPr>
              <a:t>Mitigates risks like DDoS attacks and unauthorized access attempts.</a:t>
            </a:r>
            <a:endParaRPr sz="2000">
              <a:solidFill>
                <a:srgbClr val="0842A1"/>
              </a:solidFill>
            </a:endParaRPr>
          </a:p>
        </p:txBody>
      </p:sp>
      <p:sp>
        <p:nvSpPr>
          <p:cNvPr id="240" name="Google Shape;240;p34"/>
          <p:cNvSpPr txBox="1"/>
          <p:nvPr/>
        </p:nvSpPr>
        <p:spPr>
          <a:xfrm>
            <a:off x="4562400" y="1780950"/>
            <a:ext cx="458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1" name="Google Shape;241;p34"/>
          <p:cNvCxnSpPr/>
          <p:nvPr/>
        </p:nvCxnSpPr>
        <p:spPr>
          <a:xfrm flipH="1" rot="10800000">
            <a:off x="240575" y="930600"/>
            <a:ext cx="85665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5"/>
          <p:cNvSpPr txBox="1"/>
          <p:nvPr/>
        </p:nvSpPr>
        <p:spPr>
          <a:xfrm>
            <a:off x="531400" y="294425"/>
            <a:ext cx="8191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9" name="Google Shape;249;p35"/>
          <p:cNvSpPr txBox="1"/>
          <p:nvPr/>
        </p:nvSpPr>
        <p:spPr>
          <a:xfrm>
            <a:off x="55300" y="967775"/>
            <a:ext cx="91440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ctr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3700"/>
              <a:buFont typeface="Montserrat"/>
              <a:buChar char="●"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components and technology involved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3550" lvl="0" marL="457200" rtl="0" algn="ctr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3700"/>
              <a:buFont typeface="Montserrat"/>
              <a:buChar char="●"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The current challenges and emerging solutions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3550" lvl="0" marL="457200" rtl="0" algn="ctr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3700"/>
              <a:buFont typeface="Montserrat"/>
              <a:buChar char="●"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Process Involved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3550" lvl="0" marL="457200" rtl="0" algn="ctr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3700"/>
              <a:buFont typeface="Montserrat"/>
              <a:buChar char="●"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Threats and example of security related technologies usage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35"/>
          <p:cNvSpPr txBox="1"/>
          <p:nvPr/>
        </p:nvSpPr>
        <p:spPr>
          <a:xfrm>
            <a:off x="0" y="213575"/>
            <a:ext cx="9144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Task 2 : Part B 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idx="1" type="subTitle"/>
          </p:nvPr>
        </p:nvSpPr>
        <p:spPr>
          <a:xfrm>
            <a:off x="378075" y="225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The components and technology involved</a:t>
            </a:r>
            <a:endParaRPr b="1" sz="355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942A1"/>
              </a:solidFill>
            </a:endParaRPr>
          </a:p>
        </p:txBody>
      </p:sp>
      <p:sp>
        <p:nvSpPr>
          <p:cNvPr id="256" name="Google Shape;25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6"/>
          <p:cNvSpPr txBox="1"/>
          <p:nvPr/>
        </p:nvSpPr>
        <p:spPr>
          <a:xfrm>
            <a:off x="146000" y="809675"/>
            <a:ext cx="4925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942A1"/>
                </a:solidFill>
              </a:rPr>
              <a:t>Core Components:</a:t>
            </a:r>
            <a:endParaRPr b="1" sz="1500">
              <a:solidFill>
                <a:srgbClr val="0942A1"/>
              </a:solidFill>
            </a:endParaRPr>
          </a:p>
        </p:txBody>
      </p:sp>
      <p:sp>
        <p:nvSpPr>
          <p:cNvPr id="258" name="Google Shape;258;p36"/>
          <p:cNvSpPr txBox="1"/>
          <p:nvPr/>
        </p:nvSpPr>
        <p:spPr>
          <a:xfrm>
            <a:off x="0" y="1277475"/>
            <a:ext cx="2343900" cy="3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942A1"/>
                </a:solidFill>
              </a:rPr>
              <a:t> Blockchain Nodes</a:t>
            </a:r>
            <a:endParaRPr b="1" sz="1100" u="sng">
              <a:solidFill>
                <a:srgbClr val="0942A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Store and validate transaction data.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942A1"/>
                </a:solidFill>
              </a:rPr>
              <a:t>Types of nodes: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Full Nodes:</a:t>
            </a:r>
            <a:r>
              <a:rPr lang="en" sz="1100">
                <a:solidFill>
                  <a:srgbClr val="0942A1"/>
                </a:solidFill>
              </a:rPr>
              <a:t> Maintain a complete copy of the blockchain.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Partial (Lightweight) Nodes:</a:t>
            </a:r>
            <a:r>
              <a:rPr lang="en" sz="1100">
                <a:solidFill>
                  <a:srgbClr val="0942A1"/>
                </a:solidFill>
              </a:rPr>
              <a:t> Store only hash values of transactions.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Mining Nodes:</a:t>
            </a:r>
            <a:r>
              <a:rPr lang="en" sz="1100">
                <a:solidFill>
                  <a:srgbClr val="0942A1"/>
                </a:solidFill>
              </a:rPr>
              <a:t> Validate transactions and add new blocks (PoW).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2316925" y="1277475"/>
            <a:ext cx="22569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942A1"/>
                </a:solidFill>
              </a:rPr>
              <a:t>Distributed Ledger</a:t>
            </a:r>
            <a:endParaRPr b="1" sz="1100" u="sng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Secure, immutable record of transactions.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Key elements of blocks:</a:t>
            </a:r>
            <a:r>
              <a:rPr lang="en" sz="1100">
                <a:solidFill>
                  <a:srgbClr val="0942A1"/>
                </a:solidFill>
              </a:rPr>
              <a:t> Transactions, timestamps, previous block references.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Types of ledgers: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Public Ledger:</a:t>
            </a:r>
            <a:r>
              <a:rPr lang="en" sz="1100">
                <a:solidFill>
                  <a:srgbClr val="0942A1"/>
                </a:solidFill>
              </a:rPr>
              <a:t> Open access to transactions.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Distributed Ledger:</a:t>
            </a:r>
            <a:r>
              <a:rPr lang="en" sz="1100">
                <a:solidFill>
                  <a:srgbClr val="0942A1"/>
                </a:solidFill>
              </a:rPr>
              <a:t> All nodes maintain a copy &amp; verify transactions.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Decentralized Ledger:</a:t>
            </a:r>
            <a:r>
              <a:rPr lang="en" sz="1100">
                <a:solidFill>
                  <a:srgbClr val="0942A1"/>
                </a:solidFill>
              </a:rPr>
              <a:t> No central authority, ensures transparency</a:t>
            </a:r>
            <a:r>
              <a:rPr lang="en" sz="1100">
                <a:solidFill>
                  <a:srgbClr val="0942A1"/>
                </a:solidFill>
              </a:rPr>
              <a:t>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4362388" y="1277475"/>
            <a:ext cx="20187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942A1"/>
                </a:solidFill>
              </a:rPr>
              <a:t>Transactions in Blockchain</a:t>
            </a:r>
            <a:endParaRPr b="1" sz="1100" u="sng">
              <a:solidFill>
                <a:srgbClr val="0942A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Represent transfer of value or data.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Verified by nodes to prevent fraud (e.g., double-spending).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Key components: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Sender &amp; receiver addresses.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Transfer amount.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Digital signatures for authenticity.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</a:endParaRPr>
          </a:p>
        </p:txBody>
      </p:sp>
      <p:cxnSp>
        <p:nvCxnSpPr>
          <p:cNvPr id="261" name="Google Shape;261;p36"/>
          <p:cNvCxnSpPr/>
          <p:nvPr/>
        </p:nvCxnSpPr>
        <p:spPr>
          <a:xfrm>
            <a:off x="2263825" y="1277475"/>
            <a:ext cx="7200" cy="34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6"/>
          <p:cNvCxnSpPr/>
          <p:nvPr/>
        </p:nvCxnSpPr>
        <p:spPr>
          <a:xfrm>
            <a:off x="4367450" y="1277475"/>
            <a:ext cx="7200" cy="34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6"/>
          <p:cNvSpPr txBox="1"/>
          <p:nvPr/>
        </p:nvSpPr>
        <p:spPr>
          <a:xfrm>
            <a:off x="6417425" y="1277475"/>
            <a:ext cx="23439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942A1"/>
                </a:solidFill>
              </a:rPr>
              <a:t>Consensus Mechanisms</a:t>
            </a:r>
            <a:endParaRPr b="1" sz="1100" u="sng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Ensure agreement on valid transactions.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Types of consensus algorithms: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Proof of Work (PoW):</a:t>
            </a:r>
            <a:r>
              <a:rPr lang="en" sz="1100">
                <a:solidFill>
                  <a:srgbClr val="0942A1"/>
                </a:solidFill>
              </a:rPr>
              <a:t> Miners solve complex puzzles (e.g., Bitcoin).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Proof of Stake (PoS):</a:t>
            </a:r>
            <a:r>
              <a:rPr lang="en" sz="1100">
                <a:solidFill>
                  <a:srgbClr val="0942A1"/>
                </a:solidFill>
              </a:rPr>
              <a:t> Validators chosen based on coin stake, energy-efficient.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Delegated Proof of Stake (DPoS):</a:t>
            </a:r>
            <a:r>
              <a:rPr lang="en" sz="1100">
                <a:solidFill>
                  <a:srgbClr val="0942A1"/>
                </a:solidFill>
              </a:rPr>
              <a:t> Users vote for trusted delegates, improves scalability.</a:t>
            </a:r>
            <a:endParaRPr sz="1100">
              <a:solidFill>
                <a:srgbClr val="0942A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</a:endParaRPr>
          </a:p>
        </p:txBody>
      </p:sp>
      <p:cxnSp>
        <p:nvCxnSpPr>
          <p:cNvPr id="264" name="Google Shape;264;p36"/>
          <p:cNvCxnSpPr/>
          <p:nvPr/>
        </p:nvCxnSpPr>
        <p:spPr>
          <a:xfrm>
            <a:off x="6419950" y="1277475"/>
            <a:ext cx="7200" cy="34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idx="1" type="subTitle"/>
          </p:nvPr>
        </p:nvSpPr>
        <p:spPr>
          <a:xfrm>
            <a:off x="378075" y="225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The components and technology involved</a:t>
            </a:r>
            <a:endParaRPr b="1" sz="355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7"/>
          <p:cNvSpPr txBox="1"/>
          <p:nvPr/>
        </p:nvSpPr>
        <p:spPr>
          <a:xfrm>
            <a:off x="146000" y="809675"/>
            <a:ext cx="4925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942A1"/>
                </a:solidFill>
              </a:rPr>
              <a:t>Supporting Technologies:</a:t>
            </a:r>
            <a:endParaRPr b="1" sz="1500">
              <a:solidFill>
                <a:srgbClr val="0942A1"/>
              </a:solidFill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955875" y="1277475"/>
            <a:ext cx="23439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942A1"/>
                </a:solidFill>
              </a:rPr>
              <a:t>Cryptographic Security</a:t>
            </a:r>
            <a:endParaRPr b="1" sz="1100" u="sng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Hash Functions:</a:t>
            </a:r>
            <a:r>
              <a:rPr lang="en" sz="1100">
                <a:solidFill>
                  <a:srgbClr val="0942A1"/>
                </a:solidFill>
              </a:rPr>
              <a:t> Convert data into fixed-size hash values, ensuring tamper-proof security.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Digital Signatures:</a:t>
            </a:r>
            <a:r>
              <a:rPr lang="en" sz="1100">
                <a:solidFill>
                  <a:srgbClr val="0942A1"/>
                </a:solidFill>
              </a:rPr>
              <a:t> Authenticate transactions using public-private key pairs.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Public &amp; Private Keys:</a:t>
            </a:r>
            <a:r>
              <a:rPr lang="en" sz="1100">
                <a:solidFill>
                  <a:srgbClr val="0942A1"/>
                </a:solidFill>
              </a:rPr>
              <a:t> Ensure only authorized access to transactions.</a:t>
            </a:r>
            <a:endParaRPr sz="1100">
              <a:solidFill>
                <a:srgbClr val="0942A1"/>
              </a:solidFill>
            </a:endParaRPr>
          </a:p>
        </p:txBody>
      </p:sp>
      <p:sp>
        <p:nvSpPr>
          <p:cNvPr id="273" name="Google Shape;273;p37"/>
          <p:cNvSpPr txBox="1"/>
          <p:nvPr/>
        </p:nvSpPr>
        <p:spPr>
          <a:xfrm>
            <a:off x="3306963" y="1218225"/>
            <a:ext cx="2018700" cy="28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942A1"/>
                </a:solidFill>
              </a:rPr>
              <a:t>Smart Contracts</a:t>
            </a:r>
            <a:endParaRPr b="1" sz="1100" u="sng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Self-executing contracts with predefined conditions.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Automate processes, removing intermediaries.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Use cases:</a:t>
            </a:r>
            <a:r>
              <a:rPr lang="en" sz="1100">
                <a:solidFill>
                  <a:srgbClr val="0942A1"/>
                </a:solidFill>
              </a:rPr>
              <a:t> DeFi, supply chain management, insurance claims.</a:t>
            </a:r>
            <a:endParaRPr sz="1100">
              <a:solidFill>
                <a:srgbClr val="0942A1"/>
              </a:solidFill>
            </a:endParaRPr>
          </a:p>
        </p:txBody>
      </p:sp>
      <p:cxnSp>
        <p:nvCxnSpPr>
          <p:cNvPr id="274" name="Google Shape;274;p37"/>
          <p:cNvCxnSpPr/>
          <p:nvPr/>
        </p:nvCxnSpPr>
        <p:spPr>
          <a:xfrm>
            <a:off x="3292575" y="1225175"/>
            <a:ext cx="7200" cy="34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7"/>
          <p:cNvSpPr txBox="1"/>
          <p:nvPr/>
        </p:nvSpPr>
        <p:spPr>
          <a:xfrm>
            <a:off x="5325675" y="1218225"/>
            <a:ext cx="2343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rgbClr val="0942A1"/>
                </a:solidFill>
              </a:rPr>
              <a:t>Tokens in Blockchain</a:t>
            </a:r>
            <a:endParaRPr b="1" sz="1100" u="sng">
              <a:solidFill>
                <a:srgbClr val="0942A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Utility Tokens:</a:t>
            </a:r>
            <a:r>
              <a:rPr lang="en" sz="1100">
                <a:solidFill>
                  <a:srgbClr val="0942A1"/>
                </a:solidFill>
              </a:rPr>
              <a:t> Provide access to services (e.g., Ethereum’s Ether).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Security Tokens:</a:t>
            </a:r>
            <a:r>
              <a:rPr lang="en" sz="1100">
                <a:solidFill>
                  <a:srgbClr val="0942A1"/>
                </a:solidFill>
              </a:rPr>
              <a:t> Represent real-world assets (stocks, real estate).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</a:rPr>
              <a:t>Stablecoins:</a:t>
            </a:r>
            <a:r>
              <a:rPr lang="en" sz="1100">
                <a:solidFill>
                  <a:srgbClr val="0942A1"/>
                </a:solidFill>
              </a:rPr>
              <a:t> Pegged to fiat currencies for price stability.</a:t>
            </a: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942A1"/>
              </a:solidFill>
            </a:endParaRPr>
          </a:p>
        </p:txBody>
      </p:sp>
      <p:cxnSp>
        <p:nvCxnSpPr>
          <p:cNvPr id="276" name="Google Shape;276;p37"/>
          <p:cNvCxnSpPr/>
          <p:nvPr/>
        </p:nvCxnSpPr>
        <p:spPr>
          <a:xfrm>
            <a:off x="5325675" y="1225175"/>
            <a:ext cx="7200" cy="34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400" y="1013975"/>
            <a:ext cx="685475" cy="12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8"/>
          <p:cNvSpPr txBox="1"/>
          <p:nvPr/>
        </p:nvSpPr>
        <p:spPr>
          <a:xfrm>
            <a:off x="0" y="213575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942A1"/>
                </a:solidFill>
              </a:rPr>
              <a:t>Challenges and Solutions in Blockchain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2225350" y="1478250"/>
            <a:ext cx="56565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</a:rPr>
              <a:t>Organizations are hesitant due to security concerns and regulatory uncertainty. Solutions include permissioned blockchains with verified participants.</a:t>
            </a:r>
            <a:endParaRPr sz="1100">
              <a:solidFill>
                <a:srgbClr val="464646"/>
              </a:solidFill>
            </a:endParaRPr>
          </a:p>
        </p:txBody>
      </p:sp>
      <p:sp>
        <p:nvSpPr>
          <p:cNvPr id="285" name="Google Shape;285;p38"/>
          <p:cNvSpPr txBox="1"/>
          <p:nvPr>
            <p:ph idx="4294967295" type="title"/>
          </p:nvPr>
        </p:nvSpPr>
        <p:spPr>
          <a:xfrm>
            <a:off x="2252825" y="1192625"/>
            <a:ext cx="1325400" cy="3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Lack of trust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38"/>
          <p:cNvSpPr txBox="1"/>
          <p:nvPr>
            <p:ph idx="4294967295" type="title"/>
          </p:nvPr>
        </p:nvSpPr>
        <p:spPr>
          <a:xfrm>
            <a:off x="2252825" y="2246225"/>
            <a:ext cx="2440500" cy="3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High energy Consumption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2252825" y="2541138"/>
            <a:ext cx="53937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</a:rPr>
              <a:t>Proof-of-Work (PoW) systems require vast computing power. Energy-efficient alternatives like Proof-of-Stake (PoS) are being developed.</a:t>
            </a:r>
            <a:endParaRPr sz="1100">
              <a:solidFill>
                <a:srgbClr val="464646"/>
              </a:solidFill>
            </a:endParaRPr>
          </a:p>
        </p:txBody>
      </p:sp>
      <p:sp>
        <p:nvSpPr>
          <p:cNvPr id="288" name="Google Shape;288;p38"/>
          <p:cNvSpPr txBox="1"/>
          <p:nvPr>
            <p:ph idx="4294967295" type="title"/>
          </p:nvPr>
        </p:nvSpPr>
        <p:spPr>
          <a:xfrm>
            <a:off x="2225350" y="3299813"/>
            <a:ext cx="2440500" cy="3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Interoperability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2225350" y="3700450"/>
            <a:ext cx="52575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3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64646"/>
                </a:solidFill>
              </a:rPr>
              <a:t>Different blockchain networks use independent protocols. Solutions like Ark's SmartBridges and Cosmos' IBC enable cross-blockchain communication.</a:t>
            </a:r>
            <a:endParaRPr sz="1100">
              <a:solidFill>
                <a:srgbClr val="464646"/>
              </a:solidFill>
            </a:endParaRPr>
          </a:p>
        </p:txBody>
      </p:sp>
      <p:pic>
        <p:nvPicPr>
          <p:cNvPr id="290" name="Google Shape;29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400" y="2160880"/>
            <a:ext cx="685475" cy="1228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6400" y="3338798"/>
            <a:ext cx="685475" cy="122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7" name="Google Shape;297;p39"/>
          <p:cNvPicPr preferRelativeResize="0"/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>
            <a:off x="3072563" y="1110125"/>
            <a:ext cx="2998887" cy="300289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942A1">
                <a:alpha val="50000"/>
              </a:srgbClr>
            </a:outerShdw>
          </a:effectLst>
        </p:spPr>
      </p:pic>
      <p:sp>
        <p:nvSpPr>
          <p:cNvPr id="298" name="Google Shape;298;p39"/>
          <p:cNvSpPr txBox="1"/>
          <p:nvPr/>
        </p:nvSpPr>
        <p:spPr>
          <a:xfrm>
            <a:off x="335700" y="219000"/>
            <a:ext cx="8472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4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942A1"/>
                </a:solidFill>
              </a:rPr>
              <a:t>Process </a:t>
            </a:r>
            <a:r>
              <a:rPr lang="en" sz="2500">
                <a:solidFill>
                  <a:srgbClr val="0942A1"/>
                </a:solidFill>
              </a:rPr>
              <a:t>Involved</a:t>
            </a:r>
            <a:r>
              <a:rPr lang="en" sz="2500">
                <a:solidFill>
                  <a:srgbClr val="0942A1"/>
                </a:solidFill>
              </a:rPr>
              <a:t> in Blockchain</a:t>
            </a:r>
            <a:endParaRPr b="1" sz="2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249025" y="14606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Distributed Database</a:t>
            </a:r>
            <a:endParaRPr b="1" sz="1100">
              <a:solidFill>
                <a:srgbClr val="0942A1"/>
              </a:solidFill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335700" y="1814600"/>
            <a:ext cx="2609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Multiple copies of data are stored across different machines, ensuring consistency and security</a:t>
            </a:r>
            <a:endParaRPr sz="1100">
              <a:solidFill>
                <a:srgbClr val="0942A1"/>
              </a:solidFill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6144000" y="1286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Transaction Validation</a:t>
            </a:r>
            <a:endParaRPr b="1" sz="1100">
              <a:solidFill>
                <a:srgbClr val="0942A1"/>
              </a:solidFill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6276750" y="16403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Transactions are sent to a memory pool, compiled into a block, and validated by miners.</a:t>
            </a:r>
            <a:endParaRPr sz="1100">
              <a:solidFill>
                <a:srgbClr val="0942A1"/>
              </a:solidFill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5974225" y="3457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Block Addition</a:t>
            </a:r>
            <a:endParaRPr b="1" sz="1100">
              <a:solidFill>
                <a:srgbClr val="0942A1"/>
              </a:solidFill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6071450" y="372810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942A1"/>
                </a:solidFill>
              </a:rPr>
              <a:t>Once validated, the block is added to the blockchain, and transactions are confirmed after multiple additional blocks are added.</a:t>
            </a:r>
            <a:endParaRPr sz="1100">
              <a:solidFill>
                <a:srgbClr val="0942A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0" name="Google Shape;3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552450"/>
            <a:ext cx="59436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idx="1" type="subTitle"/>
          </p:nvPr>
        </p:nvSpPr>
        <p:spPr>
          <a:xfrm>
            <a:off x="311700" y="192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0000">
                <a:solidFill>
                  <a:srgbClr val="0942A1"/>
                </a:solidFill>
              </a:rPr>
              <a:t>Threats and Security Applications of Blockchain</a:t>
            </a:r>
            <a:endParaRPr b="1" sz="100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b="1" sz="2200">
              <a:solidFill>
                <a:srgbClr val="0942A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942A1"/>
              </a:solidFill>
            </a:endParaRPr>
          </a:p>
        </p:txBody>
      </p:sp>
      <p:sp>
        <p:nvSpPr>
          <p:cNvPr id="316" name="Google Shape;31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0942A1"/>
                </a:solidFill>
              </a:rPr>
              <a:t>‹#›</a:t>
            </a:fld>
            <a:endParaRPr>
              <a:solidFill>
                <a:srgbClr val="0942A1"/>
              </a:solidFill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287825" y="1148175"/>
            <a:ext cx="43485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1. Phishing Attacks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Attackers use fake emails/websites to steal private keys or login credentials.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Can lead to wallet breaches and unauthorized fund transfers.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2. Routing Attacks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Hackers intercept data between blockchain nodes or ISPs.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Allows data extraction or delayed transac</a:t>
            </a:r>
            <a:r>
              <a:rPr lang="en" sz="1100">
                <a:solidFill>
                  <a:srgbClr val="0942A1"/>
                </a:solidFill>
              </a:rPr>
              <a:t>tions while appearing normal.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</p:txBody>
      </p:sp>
      <p:sp>
        <p:nvSpPr>
          <p:cNvPr id="318" name="Google Shape;318;p41"/>
          <p:cNvSpPr txBox="1"/>
          <p:nvPr/>
        </p:nvSpPr>
        <p:spPr>
          <a:xfrm>
            <a:off x="364775" y="7326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942A1"/>
                </a:solidFill>
              </a:rPr>
              <a:t>Cyber Threats</a:t>
            </a:r>
            <a:endParaRPr b="1" sz="1500">
              <a:solidFill>
                <a:srgbClr val="0942A1"/>
              </a:solidFill>
            </a:endParaRPr>
          </a:p>
        </p:txBody>
      </p:sp>
      <p:sp>
        <p:nvSpPr>
          <p:cNvPr id="319" name="Google Shape;319;p41"/>
          <p:cNvSpPr txBox="1"/>
          <p:nvPr/>
        </p:nvSpPr>
        <p:spPr>
          <a:xfrm>
            <a:off x="4672650" y="1148175"/>
            <a:ext cx="4348500" cy="3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3. Sybil Attacks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Attackers create multiple fake identities (nodes) to gain control.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Can manipulate voting, disrupt operations, or slow down network performance.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4. 51% Attacks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A single entity controls more than 50% of the network’s computational power.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Enables rewriting of transaction history, double-spending, and transaction blocking.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More common in public blockchains; private blockchains are less vulnerable.</a:t>
            </a:r>
            <a:br>
              <a:rPr b="1"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idx="1" type="subTitle"/>
          </p:nvPr>
        </p:nvSpPr>
        <p:spPr>
          <a:xfrm>
            <a:off x="311700" y="192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50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0942A1"/>
                </a:solidFill>
              </a:rPr>
              <a:t>Threats and Security Applications of Blockchain</a:t>
            </a:r>
            <a:endParaRPr b="1" sz="100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942A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942A1"/>
              </a:solidFill>
            </a:endParaRPr>
          </a:p>
        </p:txBody>
      </p:sp>
      <p:sp>
        <p:nvSpPr>
          <p:cNvPr id="325" name="Google Shape;32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0942A1"/>
                </a:solidFill>
              </a:rPr>
              <a:t>‹#›</a:t>
            </a:fld>
            <a:endParaRPr>
              <a:solidFill>
                <a:srgbClr val="0942A1"/>
              </a:solidFill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364775" y="7326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942A1"/>
                </a:solidFill>
              </a:rPr>
              <a:t>Examples of Blockchain Security Usage</a:t>
            </a:r>
            <a:endParaRPr b="1" sz="1500">
              <a:solidFill>
                <a:srgbClr val="0942A1"/>
              </a:solidFill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364775" y="1086675"/>
            <a:ext cx="43485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1. Financial Services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Ensures secure, immutable, and transparent transactions.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Reduces fraud risks, double-spending, and unauthorized changes.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Enhances transaction efficiency and trust in banks &amp; financial institutions.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2. Healthcare Industry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Secures patient records with encryption and decentralized storage.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Prevents unauthorized access and enhances data sharing among providers.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Maintains data integrity and supports secure medical research collaboration.</a:t>
            </a:r>
            <a:br>
              <a:rPr lang="en" sz="1100">
                <a:solidFill>
                  <a:srgbClr val="0942A1"/>
                </a:solidFill>
              </a:rPr>
            </a:b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942A1"/>
              </a:solidFill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4713275" y="1011850"/>
            <a:ext cx="43485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</a:rPr>
              <a:t>3. Supply Chain Management</a:t>
            </a:r>
            <a:endParaRPr b="1"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Provides a tamper-proof record of product movement.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</a:rPr>
              <a:t>Verifies product authenticity and combats counterfeiting.</a:t>
            </a:r>
            <a:br>
              <a:rPr lang="en" sz="1100">
                <a:solidFill>
                  <a:srgbClr val="0942A1"/>
                </a:solidFill>
              </a:rPr>
            </a:br>
            <a:endParaRPr sz="1100">
              <a:solidFill>
                <a:srgbClr val="0942A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942A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43"/>
          <p:cNvSpPr txBox="1"/>
          <p:nvPr/>
        </p:nvSpPr>
        <p:spPr>
          <a:xfrm>
            <a:off x="531400" y="294425"/>
            <a:ext cx="8191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21550" y="1774575"/>
            <a:ext cx="9144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The Impact of Blockchain in Cybersecurity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21550" y="940725"/>
            <a:ext cx="9144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Task 2 : Part C 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44"/>
          <p:cNvSpPr txBox="1"/>
          <p:nvPr>
            <p:ph idx="4294967295"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✅ Benefits of Blockchain in Cybersecurity ✅</a:t>
            </a:r>
            <a:endParaRPr b="1" sz="18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44"/>
          <p:cNvSpPr txBox="1"/>
          <p:nvPr/>
        </p:nvSpPr>
        <p:spPr>
          <a:xfrm>
            <a:off x="0" y="1076550"/>
            <a:ext cx="4459200" cy="3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Enhanced Data Security and Integrity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Immutable ledger prevents data tampering.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Reduces risks of data breaches and unauthorized modifications.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Crucial for healthcare, finance, and government sectors.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3.        </a:t>
            </a: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Improved Authentication and Identity Management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Secure identity verification using cryptographic authentication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Reduces identity theft and fraud.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Self-sovereign identities give users control over personal data.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5" name="Google Shape;345;p44"/>
          <p:cNvCxnSpPr/>
          <p:nvPr/>
        </p:nvCxnSpPr>
        <p:spPr>
          <a:xfrm>
            <a:off x="290250" y="872775"/>
            <a:ext cx="85635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44"/>
          <p:cNvSpPr txBox="1"/>
          <p:nvPr/>
        </p:nvSpPr>
        <p:spPr>
          <a:xfrm>
            <a:off x="4530000" y="1322550"/>
            <a:ext cx="4614000" cy="26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2.        Decentralization Reducing Single Points of Failure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Traditional centralized systems are vulnerable to cyberattacks.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Blockchain distributes data across multiple nodes.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Enhances resilience against DDoS attacks and ransomware.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4.        Transparency and Trust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Transactions are traceable and verifiable.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Useful for supply chains, financial transactions, and regulatory compliance.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45"/>
          <p:cNvSpPr txBox="1"/>
          <p:nvPr>
            <p:ph idx="4294967295"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⚠ </a:t>
            </a: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Blockchain in Cybersecurity ⚠</a:t>
            </a:r>
            <a:endParaRPr b="1" sz="18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45"/>
          <p:cNvSpPr txBox="1"/>
          <p:nvPr/>
        </p:nvSpPr>
        <p:spPr>
          <a:xfrm>
            <a:off x="0" y="1076550"/>
            <a:ext cx="44592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Scalability Issues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Proof of Work (PoW) systems require high computational power.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Slow transaction processing and high energy consumption.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Solutions: Layer 2 (sidechains, sharding).</a:t>
            </a:r>
            <a:endParaRPr/>
          </a:p>
        </p:txBody>
      </p:sp>
      <p:cxnSp>
        <p:nvCxnSpPr>
          <p:cNvPr id="354" name="Google Shape;354;p45"/>
          <p:cNvCxnSpPr/>
          <p:nvPr/>
        </p:nvCxnSpPr>
        <p:spPr>
          <a:xfrm>
            <a:off x="290250" y="872775"/>
            <a:ext cx="85635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45"/>
          <p:cNvSpPr txBox="1"/>
          <p:nvPr/>
        </p:nvSpPr>
        <p:spPr>
          <a:xfrm>
            <a:off x="4643250" y="1322550"/>
            <a:ext cx="43779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2.        Regulatory and Compliance Challenges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Global decentralization conflicts with data protection laws.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Issues with compliance (e.g., GDPR).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5"/>
          <p:cNvSpPr txBox="1"/>
          <p:nvPr/>
        </p:nvSpPr>
        <p:spPr>
          <a:xfrm>
            <a:off x="1289800" y="36570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/>
          </a:p>
        </p:txBody>
      </p:sp>
      <p:sp>
        <p:nvSpPr>
          <p:cNvPr id="357" name="Google Shape;357;p45"/>
          <p:cNvSpPr txBox="1"/>
          <p:nvPr/>
        </p:nvSpPr>
        <p:spPr>
          <a:xfrm>
            <a:off x="2009550" y="3063225"/>
            <a:ext cx="51249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3. Energy Consumption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PoW-based systems consume excessive energy (e.g., Bitcoin mining).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Need for eco-friendly alternatives (PoS, hybrid models).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6"/>
          <p:cNvSpPr txBox="1"/>
          <p:nvPr>
            <p:ph idx="4294967295" type="title"/>
          </p:nvPr>
        </p:nvSpPr>
        <p:spPr>
          <a:xfrm>
            <a:off x="50" y="30007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🚀 Future Potentials of Blockchain in Cybersecurity 🚀</a:t>
            </a:r>
            <a:endParaRPr b="1" sz="1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0" y="1566450"/>
            <a:ext cx="44592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Integration with AI and IoT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AI-driven blockchain security detects cyber threats.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Blockchain secures IoT devices from attacks.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5" name="Google Shape;365;p46"/>
          <p:cNvCxnSpPr/>
          <p:nvPr/>
        </p:nvCxnSpPr>
        <p:spPr>
          <a:xfrm>
            <a:off x="290250" y="872775"/>
            <a:ext cx="85635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6"/>
          <p:cNvSpPr txBox="1"/>
          <p:nvPr/>
        </p:nvSpPr>
        <p:spPr>
          <a:xfrm>
            <a:off x="4643250" y="1456350"/>
            <a:ext cx="4377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2.        Quantum-Resistant Cryptography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Quantum computing threatens traditional encryption.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Research on post-quantum cryptography (e.g., lattice-based encryption).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46"/>
          <p:cNvSpPr txBox="1"/>
          <p:nvPr/>
        </p:nvSpPr>
        <p:spPr>
          <a:xfrm>
            <a:off x="1289800" y="36570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/>
          </a:p>
        </p:txBody>
      </p:sp>
      <p:sp>
        <p:nvSpPr>
          <p:cNvPr id="368" name="Google Shape;368;p46"/>
          <p:cNvSpPr txBox="1"/>
          <p:nvPr/>
        </p:nvSpPr>
        <p:spPr>
          <a:xfrm>
            <a:off x="2009550" y="3063225"/>
            <a:ext cx="5124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3. Adoption in Government and Public Services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Securing digital identities, voting systems, and public records.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Enhances transparency, efficiency, and trust in governance.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5" name="Google Shape;375;p47"/>
          <p:cNvSpPr txBox="1"/>
          <p:nvPr/>
        </p:nvSpPr>
        <p:spPr>
          <a:xfrm>
            <a:off x="531400" y="294425"/>
            <a:ext cx="8191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6" name="Google Shape;376;p47"/>
          <p:cNvSpPr txBox="1"/>
          <p:nvPr/>
        </p:nvSpPr>
        <p:spPr>
          <a:xfrm>
            <a:off x="21550" y="1774575"/>
            <a:ext cx="9144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Effective of current energy-efficient consensus algorithms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7"/>
          <p:cNvSpPr txBox="1"/>
          <p:nvPr/>
        </p:nvSpPr>
        <p:spPr>
          <a:xfrm>
            <a:off x="21550" y="940725"/>
            <a:ext cx="9144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Task 2 : Part D </a:t>
            </a:r>
            <a:endParaRPr b="1" sz="37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8"/>
          <p:cNvSpPr txBox="1"/>
          <p:nvPr>
            <p:ph idx="4294967295"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Effectiveness of Current Energy-Efficient </a:t>
            </a: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Consensus</a:t>
            </a:r>
            <a:r>
              <a:rPr b="1" lang="en" sz="2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Algorithms</a:t>
            </a:r>
            <a:endParaRPr b="1" sz="18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48"/>
          <p:cNvSpPr txBox="1"/>
          <p:nvPr/>
        </p:nvSpPr>
        <p:spPr>
          <a:xfrm>
            <a:off x="0" y="1441650"/>
            <a:ext cx="4581600" cy="3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Proof-of-Stake (PoS) &amp; Delegated Proof-of-Stake (DPoS)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PoS: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Replaces mining with staking, cutting energy use by 99% (e.g., Ethereum).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DPoS: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Uses elected validators for efficiency (e.g., EOS, Tron).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Challenge: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Risk of centralization due to control by a few entities.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Proof-of-Authority (PoA)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No mining, only pre-approved validators.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Very low energy consumption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(like a traditional database).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Used in private networks (e.g., Fnality).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Challenge: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Limited decentralization, unsuitable for public blockchains.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48"/>
          <p:cNvSpPr txBox="1"/>
          <p:nvPr/>
        </p:nvSpPr>
        <p:spPr>
          <a:xfrm>
            <a:off x="4562400" y="1780950"/>
            <a:ext cx="45816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3.	Practical Byzantine Fault Tolerance (PBFT) &amp; Variants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S-PBFT: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30-40% lower energy consumption than PBFT.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Font typeface="Montserrat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Great for financial &amp; consortium blockchains.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Challenge: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Scalability issues in large networks.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 4.	Hybrid &amp; Niche Consensus Mechanisms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Green-PoW: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Uses renewable energy &amp; adjusts difficulty dynamically.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Raft &amp; FBA: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Efficient for private networks.</a:t>
            </a:r>
            <a:endParaRPr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100"/>
              <a:buChar char="●"/>
            </a:pPr>
            <a:r>
              <a:rPr b="1"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Challenge:</a:t>
            </a:r>
            <a:r>
              <a:rPr lang="en" sz="11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Infrastructure limitations for renewable energy adoption.</a:t>
            </a:r>
            <a:endParaRPr b="1" sz="11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6" name="Google Shape;386;p48"/>
          <p:cNvCxnSpPr/>
          <p:nvPr/>
        </p:nvCxnSpPr>
        <p:spPr>
          <a:xfrm>
            <a:off x="240575" y="1210025"/>
            <a:ext cx="85635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49"/>
          <p:cNvSpPr txBox="1"/>
          <p:nvPr>
            <p:ph idx="4294967295"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0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Key Challenges</a:t>
            </a:r>
            <a:endParaRPr b="1" sz="23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49"/>
          <p:cNvSpPr txBox="1"/>
          <p:nvPr/>
        </p:nvSpPr>
        <p:spPr>
          <a:xfrm>
            <a:off x="0" y="1441650"/>
            <a:ext cx="9144000" cy="27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500"/>
              <a:buFont typeface="Montserrat"/>
              <a:buAutoNum type="arabicPeriod"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Scalability vs. Efficiency Trade-offs</a:t>
            </a:r>
            <a:endParaRPr b="1"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500"/>
              <a:buChar char="●"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PoS &amp; DPoS reduce energy but still face transaction throughput issues.</a:t>
            </a:r>
            <a:endParaRPr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500"/>
              <a:buFont typeface="Montserrat"/>
              <a:buAutoNum type="arabicPeriod"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Hardware Limitations</a:t>
            </a:r>
            <a:endParaRPr b="1"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500"/>
              <a:buChar char="●"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Even efficient algorithms require high-performance hardware, creating barriers.</a:t>
            </a:r>
            <a:endParaRPr b="1"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3.	Centralization Risks</a:t>
            </a:r>
            <a:endParaRPr b="1"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500"/>
              <a:buFont typeface="Montserrat"/>
              <a:buChar char="●"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DPoS &amp; PoA improve efficiency but reduce decentralization.</a:t>
            </a:r>
            <a:endParaRPr b="1"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4.	Renewable Energy Integration Challenges</a:t>
            </a:r>
            <a:endParaRPr b="1"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500"/>
              <a:buFont typeface="Montserrat"/>
              <a:buChar char="●"/>
            </a:pPr>
            <a:r>
              <a:rPr b="1" lang="en" sz="15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Lack of blockchain infrastructure to fully utilize solar/wind energy.</a:t>
            </a:r>
            <a:endParaRPr b="1" sz="1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5" name="Google Shape;395;p49"/>
          <p:cNvCxnSpPr/>
          <p:nvPr/>
        </p:nvCxnSpPr>
        <p:spPr>
          <a:xfrm>
            <a:off x="240575" y="1210025"/>
            <a:ext cx="85635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50"/>
          <p:cNvSpPr txBox="1"/>
          <p:nvPr>
            <p:ph idx="4294967295"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Proposed Improvements</a:t>
            </a:r>
            <a:endParaRPr b="1" sz="25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0"/>
          <p:cNvSpPr txBox="1"/>
          <p:nvPr/>
        </p:nvSpPr>
        <p:spPr>
          <a:xfrm>
            <a:off x="220825" y="1490125"/>
            <a:ext cx="42369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Adaptive Hybrid Consensus Models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200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Combine PoS &amp; PBFT with sharding to improve scalability &amp; efficiency.</a:t>
            </a:r>
            <a:endParaRPr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Decentralized Renewable Energy Integration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200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 token rewards &amp; carbon credits for green mining.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Develop "green nodes" powered by solar/wind energy.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3.	</a:t>
            </a: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Research Quantum-Resistant Algorithms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Prepare for quantum computing threats while maintaining energy efficiency</a:t>
            </a: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50"/>
          <p:cNvSpPr txBox="1"/>
          <p:nvPr/>
        </p:nvSpPr>
        <p:spPr>
          <a:xfrm>
            <a:off x="4573850" y="1524050"/>
            <a:ext cx="42369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4.	Hardware-Software Co-Design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Optimize ASICs for low-power consensus.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Use lightweight clients &amp; data compression to lower processing demands.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5.	Governance &amp; Standardization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Set interoperability standards for energy-efficient blockchains.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Improve DPoS governance to prevent centralization.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   6.	Sector-Specific Customization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942A1"/>
              </a:buClr>
              <a:buSzPts val="1200"/>
              <a:buFont typeface="Montserrat"/>
              <a:buChar char="●"/>
            </a:pPr>
            <a:r>
              <a:rPr b="1" lang="en" sz="1200">
                <a:solidFill>
                  <a:srgbClr val="0942A1"/>
                </a:solidFill>
                <a:latin typeface="Montserrat"/>
                <a:ea typeface="Montserrat"/>
                <a:cs typeface="Montserrat"/>
                <a:sym typeface="Montserrat"/>
              </a:rPr>
              <a:t>Optimize consensus mechanisms for industries like finance &amp; supply chains.</a:t>
            </a:r>
            <a:endParaRPr b="1" sz="1200">
              <a:solidFill>
                <a:srgbClr val="0942A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6" name="Google Shape;406;p50"/>
          <p:cNvCxnSpPr/>
          <p:nvPr/>
        </p:nvCxnSpPr>
        <p:spPr>
          <a:xfrm>
            <a:off x="240575" y="1210025"/>
            <a:ext cx="8563500" cy="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1"/>
          <p:cNvSpPr txBox="1"/>
          <p:nvPr>
            <p:ph type="ctrTitle"/>
          </p:nvPr>
        </p:nvSpPr>
        <p:spPr>
          <a:xfrm>
            <a:off x="311708" y="115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412" name="Google Shape;41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