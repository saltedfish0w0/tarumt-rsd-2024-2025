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14E7D4-67A5-41A0-995C-9259D0211977}">
  <a:tblStyle styleId="{5E14E7D4-67A5-41A0-995C-9259D02119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Montserrat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ba82976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ba82976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40d7cc71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40d7cc71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40d7cc71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40d7cc71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ba8297641_2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ba8297641_2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40d7cc71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40d7cc7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49ba258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49ba258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ba8297641_2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ba8297641_2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40d7cc71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40d7cc71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0c09f814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0c09f81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ba8297641_2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ba8297641_2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40d7cc7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40d7cc7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ba8297641_2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ba8297641_2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40d7cc71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40d7cc71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40d7cc71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40d7cc71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492c6dcc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492c6dcc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40d7cc71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40d7cc71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492c6dcc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492c6dcc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492c6dcc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492c6dcc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492c6dcc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492c6dcc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49a1e296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49a1e296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2ED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NXrsB_38e3xrA5FloLUQf0gdMUCxYQzS/view" TargetMode="External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R_hD-TRauzRLLXKDyce3pg9NZ6BtwPCj/view" TargetMode="External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9kMJUKEkX3pv-SmlSAmAnlloNKFAyP3i/view" TargetMode="External"/><Relationship Id="rId4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fwIVRhpnNfm7EiFbL5_HW26Zn4ZYu0F8/view" TargetMode="External"/><Relationship Id="rId4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L5bHY0yOZlyO-TOFyzMHvXJr6q4_DE8W/view" TargetMode="External"/><Relationship Id="rId4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R0GTImyKriUxN4BhePzeEU8CJBsLcO0A/view" TargetMode="External"/><Relationship Id="rId4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drive.google.com/file/d/1Dj2XoZ2IXL9VwX2Wx34dAq9Eyg7epCkT/view" TargetMode="Externa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1087500" y="497400"/>
            <a:ext cx="11319000" cy="41487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-48750" y="675550"/>
            <a:ext cx="9241500" cy="2052600"/>
          </a:xfrm>
          <a:prstGeom prst="rect">
            <a:avLst/>
          </a:prstGeom>
          <a:effectLst>
            <a:outerShdw rotWithShape="0" algn="bl" dir="2820000" dist="66675">
              <a:schemeClr val="lt1"/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Smart Adaptive Display Panel</a:t>
            </a:r>
            <a:endParaRPr b="1" sz="4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728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79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 Members: Ong Yi Xin, Lim Jun Wei, Chia Ming Yi</a:t>
            </a:r>
            <a:endParaRPr sz="1879"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79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RSDY2S3G5</a:t>
            </a:r>
            <a:endParaRPr sz="1879"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 flipH="1">
            <a:off x="-8300" y="-10575"/>
            <a:ext cx="3658800" cy="997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/>
          <p:nvPr/>
        </p:nvCxnSpPr>
        <p:spPr>
          <a:xfrm flipH="1">
            <a:off x="5485200" y="4145700"/>
            <a:ext cx="3658800" cy="997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Description of System</a:t>
            </a:r>
            <a:endParaRPr sz="3000"/>
          </a:p>
        </p:txBody>
      </p:sp>
      <p:grpSp>
        <p:nvGrpSpPr>
          <p:cNvPr id="65" name="Google Shape;65;p14"/>
          <p:cNvGrpSpPr/>
          <p:nvPr/>
        </p:nvGrpSpPr>
        <p:grpSpPr>
          <a:xfrm>
            <a:off x="392425" y="1189891"/>
            <a:ext cx="8359150" cy="3257805"/>
            <a:chOff x="392425" y="1017714"/>
            <a:chExt cx="8359150" cy="2503500"/>
          </a:xfrm>
        </p:grpSpPr>
        <p:sp>
          <p:nvSpPr>
            <p:cNvPr id="66" name="Google Shape;66;p14"/>
            <p:cNvSpPr/>
            <p:nvPr/>
          </p:nvSpPr>
          <p:spPr>
            <a:xfrm>
              <a:off x="392425" y="1017714"/>
              <a:ext cx="2547000" cy="250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182875" lIns="182875" spcFirstLastPara="1" rIns="182875" wrap="square" tIns="1828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rgbClr val="0942A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Integrated with sensors</a:t>
              </a:r>
              <a:endParaRPr b="1" sz="16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Brightness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Humidity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Temperature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Hand Gesture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NFC Reader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3298500" y="1017714"/>
              <a:ext cx="2547000" cy="250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182875" lIns="182875" spcFirstLastPara="1" rIns="182875" wrap="square" tIns="1828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rgbClr val="0942A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Smart, adaptive and automated</a:t>
              </a:r>
              <a:endParaRPr b="1" sz="16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Helping and easing business people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Dynamic promotional content tailored to conditions</a:t>
              </a:r>
              <a:endParaRPr sz="1600"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6204575" y="1017714"/>
              <a:ext cx="2547000" cy="250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182875" lIns="182875" spcFirstLastPara="1" rIns="182875" wrap="square" tIns="1828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rgbClr val="0942A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Digital Display Module</a:t>
              </a:r>
              <a:endParaRPr b="1" sz="16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Cycles through promotional posters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Posters are uploaded and managed via a user-friendly interface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Description of System</a:t>
            </a:r>
            <a:endParaRPr sz="3000"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6" name="Google Shape;76;p15"/>
          <p:cNvGrpSpPr/>
          <p:nvPr/>
        </p:nvGrpSpPr>
        <p:grpSpPr>
          <a:xfrm>
            <a:off x="392425" y="1189891"/>
            <a:ext cx="5453075" cy="3257805"/>
            <a:chOff x="392425" y="1017714"/>
            <a:chExt cx="5453075" cy="2503500"/>
          </a:xfrm>
        </p:grpSpPr>
        <p:sp>
          <p:nvSpPr>
            <p:cNvPr id="77" name="Google Shape;77;p15"/>
            <p:cNvSpPr/>
            <p:nvPr/>
          </p:nvSpPr>
          <p:spPr>
            <a:xfrm>
              <a:off x="392425" y="1017714"/>
              <a:ext cx="2547000" cy="250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182875" lIns="182875" spcFirstLastPara="1" rIns="182875" wrap="square" tIns="1828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rgbClr val="0942A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Entrance Guard Functionality</a:t>
              </a:r>
              <a:endParaRPr b="1" sz="16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Controls entrance access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Suitable for secure environments like apartment lobbies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3298500" y="1017714"/>
              <a:ext cx="2547000" cy="250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182875" lIns="182875" spcFirstLastPara="1" rIns="182875" wrap="square" tIns="1828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rgbClr val="0942A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Actionable Reporting Module</a:t>
              </a:r>
              <a:endParaRPr b="1" sz="16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Analyzes historical data for strategic insights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Supports decision-making and improves operational efficiency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Targeted Users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4" name="Google Shape;84;p16"/>
          <p:cNvGrpSpPr/>
          <p:nvPr/>
        </p:nvGrpSpPr>
        <p:grpSpPr>
          <a:xfrm>
            <a:off x="392417" y="1189878"/>
            <a:ext cx="8439833" cy="3402734"/>
            <a:chOff x="392425" y="1189900"/>
            <a:chExt cx="3944400" cy="3237000"/>
          </a:xfrm>
        </p:grpSpPr>
        <p:sp>
          <p:nvSpPr>
            <p:cNvPr id="85" name="Google Shape;85;p16"/>
            <p:cNvSpPr/>
            <p:nvPr/>
          </p:nvSpPr>
          <p:spPr>
            <a:xfrm>
              <a:off x="392425" y="1189900"/>
              <a:ext cx="3944400" cy="6696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t" bIns="182875" lIns="182875" spcFirstLastPara="1" rIns="18287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1" lang="en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Businessmen</a:t>
              </a:r>
              <a:endParaRPr b="1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392425" y="1864900"/>
              <a:ext cx="3944400" cy="25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182875" lIns="182875" spcFirstLastPara="1" rIns="182875" wrap="square" tIns="182875">
              <a:noAutofit/>
            </a:bodyPr>
            <a:lstStyle/>
            <a:p>
              <a:pPr indent="-33020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Ideal for retail and customer-facing environments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Displays dynamic ads based on environment, time, and gestures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Gesture control increases user interaction and engagement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Tracks how long users view each poster to measure effectiveness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500"/>
                </a:spcBef>
                <a:spcAft>
                  <a:spcPts val="150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Auto-adjusts brightness and messages for comfort and relevance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Targeted Users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3" name="Google Shape;93;p17"/>
          <p:cNvGrpSpPr/>
          <p:nvPr/>
        </p:nvGrpSpPr>
        <p:grpSpPr>
          <a:xfrm>
            <a:off x="311779" y="1189878"/>
            <a:ext cx="8435567" cy="3402734"/>
            <a:chOff x="4737975" y="1189900"/>
            <a:chExt cx="4009300" cy="3237000"/>
          </a:xfrm>
        </p:grpSpPr>
        <p:sp>
          <p:nvSpPr>
            <p:cNvPr id="94" name="Google Shape;94;p17"/>
            <p:cNvSpPr/>
            <p:nvPr/>
          </p:nvSpPr>
          <p:spPr>
            <a:xfrm>
              <a:off x="4737975" y="1189900"/>
              <a:ext cx="4009200" cy="66958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t" bIns="182875" lIns="182875" spcFirstLastPara="1" rIns="182875" wrap="square" tIns="182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Apartment &amp; Workplace Management</a:t>
              </a:r>
              <a:endParaRPr b="1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4738075" y="1864900"/>
              <a:ext cx="4009200" cy="25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182875" lIns="182875" spcFirstLastPara="1" rIns="182875" wrap="square" tIns="182875">
              <a:noAutofit/>
            </a:bodyPr>
            <a:lstStyle/>
            <a:p>
              <a:pPr indent="-33020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Combines access control and announcement board in one system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Uses NFC for resident/staff authentication and gate access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Displays dynamic announcements during gate access wait time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30200" lvl="0" marL="457200" rtl="0" algn="l">
                <a:lnSpc>
                  <a:spcPct val="100000"/>
                </a:lnSpc>
                <a:spcBef>
                  <a:spcPts val="1500"/>
                </a:spcBef>
                <a:spcAft>
                  <a:spcPts val="1500"/>
                </a:spcAft>
                <a:buClr>
                  <a:srgbClr val="0942A1"/>
                </a:buClr>
                <a:buSzPts val="1600"/>
                <a:buFont typeface="Montserrat Medium"/>
                <a:buChar char="●"/>
              </a:pPr>
              <a:r>
                <a:rPr lang="en" sz="1600">
                  <a:solidFill>
                    <a:srgbClr val="0942A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Enhances building security and communication efficiently</a:t>
              </a:r>
              <a:endParaRPr sz="1600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Architecture Diagram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375" y="872775"/>
            <a:ext cx="5533737" cy="41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Schematic </a:t>
            </a: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Diagram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738" y="839000"/>
            <a:ext cx="5950532" cy="421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Functional Modules Descriptions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6" name="Google Shape;116;p20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{5E14E7D4-67A5-41A0-995C-9259D0211977}</a:tableStyleId>
              </a:tblPr>
              <a:tblGrid>
                <a:gridCol w="2324100"/>
                <a:gridCol w="6310050"/>
              </a:tblGrid>
              <a:tr h="8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01. Sensor Data Acquisition Module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Sensing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light intensity, temperature, humidity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at surrounding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Sensing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gesture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or obstacle in front of the display panel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Apply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MQTT for sending requests and retrieving responses 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Update sensor information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500"/>
                        </a:spcAft>
                        <a:buNone/>
                      </a:pPr>
                      <a:b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</a:br>
                      <a:endParaRPr sz="100"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02. Device Control Module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Sensors power control</a:t>
                      </a:r>
                      <a:endParaRPr b="1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Monitor display power control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via MQTT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50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Accept MQTT message and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adjust the display panel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brightness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Functional Modules Descriptions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23" name="Google Shape;123;p21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{5E14E7D4-67A5-41A0-995C-9259D0211977}</a:tableStyleId>
              </a:tblPr>
              <a:tblGrid>
                <a:gridCol w="2324100"/>
                <a:gridCol w="6310050"/>
              </a:tblGrid>
              <a:tr h="8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03. Guarded Entrance Hardware Module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Continuously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scan for NFC card presence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 read mode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Perform card read and write operations</a:t>
                      </a:r>
                      <a:endParaRPr b="1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Open the gate via servo motor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Activate buzzer </a:t>
                      </a:r>
                      <a:endParaRPr sz="100"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04. Sensor Data Processing Module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Analyze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brightness, humidity, temperature data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at surrounding 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Collect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the data of people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close to the display panel</a:t>
                      </a:r>
                      <a:endParaRPr b="1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Updates and retrieves data to firebase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Functional Modules Descriptions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30" name="Google Shape;130;p22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{5E14E7D4-67A5-41A0-995C-9259D0211977}</a:tableStyleId>
              </a:tblPr>
              <a:tblGrid>
                <a:gridCol w="2324100"/>
                <a:gridCol w="6310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05. Advertising Module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Full screen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poster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display and audio autoplay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Swipe poster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based on gesture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Auto loop poster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based on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interval set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at UI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50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Switching oled display content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06. Guarded Entrance Process Module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Analyze incoming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UI commands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Update Firebase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Check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scanned card UID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against Firebase records</a:t>
                      </a:r>
                      <a:endParaRPr b="1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Decide whether to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grant access or deny entry</a:t>
                      </a:r>
                      <a:endParaRPr b="1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50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Trigger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to control the motor or buzzer</a:t>
                      </a:r>
                      <a:endParaRPr b="1"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Functional Modules Descriptions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37" name="Google Shape;137;p23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{5E14E7D4-67A5-41A0-995C-9259D0211977}</a:tableStyleId>
              </a:tblPr>
              <a:tblGrid>
                <a:gridCol w="2779650"/>
                <a:gridCol w="585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07. Advertising User Interface Module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Manage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poster records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(create, update, delete)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Manually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set display brightness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or switch to auto-brightness mode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Define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OLED display message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rules for different environmental conditions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Display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power control toggle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that sends MQTT commands to hardware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View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real-time sensor status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Functional Modules Descriptions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4" name="Google Shape;144;p24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{5E14E7D4-67A5-41A0-995C-9259D0211977}</a:tableStyleId>
              </a:tblPr>
              <a:tblGrid>
                <a:gridCol w="2779650"/>
                <a:gridCol w="585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08. Guarded Entrance UI Module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Trigger card write or read mode for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or scanning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Display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scan results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and access status received from Firebase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Send user data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to process module for UID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or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updates</a:t>
                      </a:r>
                      <a:endParaRPr b="1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Remove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or </a:t>
                      </a: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update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registered UID records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09. Report Module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Automatically determine the report type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(daily, monthly, yearly)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Retrieves and summarizes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report data from Firebase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b="1" lang="en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Group and calculate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the total people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Task Allocations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3241700" y="1001875"/>
            <a:ext cx="2751600" cy="572700"/>
          </a:xfrm>
          <a:prstGeom prst="rect">
            <a:avLst/>
          </a:prstGeom>
          <a:solidFill>
            <a:srgbClr val="0942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Smart Adaptive Display Panel</a:t>
            </a:r>
            <a:endParaRPr sz="1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7061676" y="2167007"/>
            <a:ext cx="1066800" cy="498300"/>
          </a:xfrm>
          <a:prstGeom prst="rect">
            <a:avLst/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Chia Ming Yi</a:t>
            </a:r>
            <a:endParaRPr sz="1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1083809" y="2166909"/>
            <a:ext cx="1066800" cy="498300"/>
          </a:xfrm>
          <a:prstGeom prst="rect">
            <a:avLst/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Lim Jun Wei</a:t>
            </a:r>
            <a:endParaRPr sz="1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216700" y="3163575"/>
            <a:ext cx="854700" cy="960000"/>
          </a:xfrm>
          <a:prstGeom prst="rect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Sensor Data Acquisition Module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1189950" y="3163800"/>
            <a:ext cx="854700" cy="960000"/>
          </a:xfrm>
          <a:prstGeom prst="rect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Device Control Module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6180275" y="3163925"/>
            <a:ext cx="854700" cy="960000"/>
          </a:xfrm>
          <a:prstGeom prst="rect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Advertising </a:t>
            </a: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 Interface Module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7167725" y="3164100"/>
            <a:ext cx="854700" cy="960000"/>
          </a:xfrm>
          <a:prstGeom prst="rect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Guard 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Entrance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 Interface Module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8" name="Google Shape;158;p25"/>
          <p:cNvCxnSpPr>
            <a:stCxn id="151" idx="2"/>
            <a:endCxn id="152" idx="0"/>
          </p:cNvCxnSpPr>
          <p:nvPr/>
        </p:nvCxnSpPr>
        <p:spPr>
          <a:xfrm flipH="1" rot="-5400000">
            <a:off x="5810000" y="382075"/>
            <a:ext cx="592500" cy="29775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25"/>
          <p:cNvCxnSpPr>
            <a:stCxn id="153" idx="0"/>
            <a:endCxn id="151" idx="2"/>
          </p:cNvCxnSpPr>
          <p:nvPr/>
        </p:nvCxnSpPr>
        <p:spPr>
          <a:xfrm rot="-5400000">
            <a:off x="2821259" y="370659"/>
            <a:ext cx="592200" cy="3000300"/>
          </a:xfrm>
          <a:prstGeom prst="bentConnector3">
            <a:avLst>
              <a:gd fmla="val 50011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25"/>
          <p:cNvCxnSpPr>
            <a:stCxn id="153" idx="2"/>
            <a:endCxn id="155" idx="0"/>
          </p:cNvCxnSpPr>
          <p:nvPr/>
        </p:nvCxnSpPr>
        <p:spPr>
          <a:xfrm flipH="1" rot="-5400000">
            <a:off x="1368209" y="2914209"/>
            <a:ext cx="498600" cy="6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25"/>
          <p:cNvCxnSpPr>
            <a:stCxn id="154" idx="0"/>
            <a:endCxn id="153" idx="2"/>
          </p:cNvCxnSpPr>
          <p:nvPr/>
        </p:nvCxnSpPr>
        <p:spPr>
          <a:xfrm rot="-5400000">
            <a:off x="881500" y="2427825"/>
            <a:ext cx="498300" cy="973200"/>
          </a:xfrm>
          <a:prstGeom prst="bentConnector3">
            <a:avLst>
              <a:gd fmla="val 50007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25"/>
          <p:cNvCxnSpPr>
            <a:stCxn id="152" idx="2"/>
            <a:endCxn id="157" idx="0"/>
          </p:cNvCxnSpPr>
          <p:nvPr/>
        </p:nvCxnSpPr>
        <p:spPr>
          <a:xfrm flipH="1" rot="-5400000">
            <a:off x="7345926" y="2914457"/>
            <a:ext cx="498900" cy="600"/>
          </a:xfrm>
          <a:prstGeom prst="bentConnector3">
            <a:avLst>
              <a:gd fmla="val 49989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25"/>
          <p:cNvCxnSpPr>
            <a:stCxn id="156" idx="0"/>
            <a:endCxn id="152" idx="2"/>
          </p:cNvCxnSpPr>
          <p:nvPr/>
        </p:nvCxnSpPr>
        <p:spPr>
          <a:xfrm rot="-5400000">
            <a:off x="6852125" y="2420825"/>
            <a:ext cx="498600" cy="9876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25"/>
          <p:cNvSpPr/>
          <p:nvPr/>
        </p:nvSpPr>
        <p:spPr>
          <a:xfrm>
            <a:off x="4083812" y="2167006"/>
            <a:ext cx="1066800" cy="498300"/>
          </a:xfrm>
          <a:prstGeom prst="rect">
            <a:avLst/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Ong Yi Xin</a:t>
            </a:r>
            <a:endParaRPr sz="1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5" name="Google Shape;165;p25"/>
          <p:cNvCxnSpPr>
            <a:stCxn id="164" idx="0"/>
            <a:endCxn id="151" idx="2"/>
          </p:cNvCxnSpPr>
          <p:nvPr/>
        </p:nvCxnSpPr>
        <p:spPr>
          <a:xfrm rot="-5400000">
            <a:off x="4321262" y="1870456"/>
            <a:ext cx="592500" cy="6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25"/>
          <p:cNvSpPr/>
          <p:nvPr/>
        </p:nvSpPr>
        <p:spPr>
          <a:xfrm>
            <a:off x="3197113" y="3163824"/>
            <a:ext cx="854700" cy="960000"/>
          </a:xfrm>
          <a:prstGeom prst="rect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Sensor Data Processing Module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4189988" y="3163824"/>
            <a:ext cx="854700" cy="960000"/>
          </a:xfrm>
          <a:prstGeom prst="rect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Advertising Module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8" name="Google Shape;168;p25"/>
          <p:cNvCxnSpPr>
            <a:stCxn id="166" idx="0"/>
            <a:endCxn id="164" idx="2"/>
          </p:cNvCxnSpPr>
          <p:nvPr/>
        </p:nvCxnSpPr>
        <p:spPr>
          <a:xfrm rot="-5400000">
            <a:off x="3871513" y="2418174"/>
            <a:ext cx="498600" cy="9927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5"/>
          <p:cNvCxnSpPr>
            <a:stCxn id="164" idx="2"/>
            <a:endCxn id="167" idx="0"/>
          </p:cNvCxnSpPr>
          <p:nvPr/>
        </p:nvCxnSpPr>
        <p:spPr>
          <a:xfrm flipH="1" rot="-5400000">
            <a:off x="4368212" y="2914306"/>
            <a:ext cx="4986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1" name="Google Shape;171;p25"/>
          <p:cNvCxnSpPr>
            <a:stCxn id="152" idx="2"/>
            <a:endCxn id="172" idx="0"/>
          </p:cNvCxnSpPr>
          <p:nvPr/>
        </p:nvCxnSpPr>
        <p:spPr>
          <a:xfrm flipH="1" rot="-5400000">
            <a:off x="7839426" y="2420957"/>
            <a:ext cx="498600" cy="9873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25"/>
          <p:cNvSpPr/>
          <p:nvPr/>
        </p:nvSpPr>
        <p:spPr>
          <a:xfrm>
            <a:off x="2163175" y="3163800"/>
            <a:ext cx="854700" cy="960000"/>
          </a:xfrm>
          <a:prstGeom prst="rect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Guarded Entrance Hardware Module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" name="Google Shape;174;p25"/>
          <p:cNvCxnSpPr>
            <a:stCxn id="153" idx="2"/>
            <a:endCxn id="173" idx="0"/>
          </p:cNvCxnSpPr>
          <p:nvPr/>
        </p:nvCxnSpPr>
        <p:spPr>
          <a:xfrm flipH="1" rot="-5400000">
            <a:off x="1854509" y="2427909"/>
            <a:ext cx="498600" cy="9732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25"/>
          <p:cNvSpPr/>
          <p:nvPr/>
        </p:nvSpPr>
        <p:spPr>
          <a:xfrm>
            <a:off x="8155175" y="3163873"/>
            <a:ext cx="854700" cy="960000"/>
          </a:xfrm>
          <a:prstGeom prst="rect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Report Module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5146313" y="3164049"/>
            <a:ext cx="854700" cy="960000"/>
          </a:xfrm>
          <a:prstGeom prst="rect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Guarded Entrance Process Module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" name="Google Shape;176;p25"/>
          <p:cNvCxnSpPr>
            <a:stCxn id="164" idx="2"/>
            <a:endCxn id="175" idx="0"/>
          </p:cNvCxnSpPr>
          <p:nvPr/>
        </p:nvCxnSpPr>
        <p:spPr>
          <a:xfrm flipH="1" rot="-5400000">
            <a:off x="4846112" y="2436406"/>
            <a:ext cx="498600" cy="956400"/>
          </a:xfrm>
          <a:prstGeom prst="bentConnector3">
            <a:avLst>
              <a:gd fmla="val 50014" name="adj1"/>
            </a:avLst>
          </a:prstGeom>
          <a:noFill/>
          <a:ln cap="flat" cmpd="sng" w="19050">
            <a:solidFill>
              <a:srgbClr val="0942A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/>
          <p:nvPr/>
        </p:nvSpPr>
        <p:spPr>
          <a:xfrm>
            <a:off x="-1087500" y="497400"/>
            <a:ext cx="11319000" cy="41487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6"/>
          <p:cNvSpPr txBox="1"/>
          <p:nvPr>
            <p:ph type="ctrTitle"/>
          </p:nvPr>
        </p:nvSpPr>
        <p:spPr>
          <a:xfrm>
            <a:off x="-48750" y="675550"/>
            <a:ext cx="9241500" cy="2052600"/>
          </a:xfrm>
          <a:prstGeom prst="rect">
            <a:avLst/>
          </a:prstGeom>
          <a:effectLst>
            <a:outerShdw rotWithShape="0" algn="bl" dir="2820000" dist="66675">
              <a:schemeClr val="lt1"/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Prototype Video</a:t>
            </a:r>
            <a:endParaRPr b="1" sz="4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3" name="Google Shape;183;p26"/>
          <p:cNvCxnSpPr/>
          <p:nvPr/>
        </p:nvCxnSpPr>
        <p:spPr>
          <a:xfrm flipH="1">
            <a:off x="-8300" y="-10575"/>
            <a:ext cx="3658800" cy="997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6"/>
          <p:cNvCxnSpPr/>
          <p:nvPr/>
        </p:nvCxnSpPr>
        <p:spPr>
          <a:xfrm flipH="1">
            <a:off x="5485200" y="4145700"/>
            <a:ext cx="3658800" cy="997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311700" y="147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1.0 Access to System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27" title="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6725" y="720375"/>
            <a:ext cx="7050534" cy="396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71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2.0 System Control on Functions: ON or OFF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9" name="Google Shape;199;p28" title="2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1688" y="1093875"/>
            <a:ext cx="6480625" cy="39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311700" y="71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3.0 Poster with Audio and Detected Data Display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" name="Google Shape;206;p29" title="3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2575" y="1176225"/>
            <a:ext cx="6898848" cy="3880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4.0 Looping Messages on OLED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3" name="Google Shape;213;p30" title="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6738" y="1090900"/>
            <a:ext cx="7050534" cy="396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5.0 UI to Control Display Brightness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0" name="Google Shape;220;p31" title="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6738" y="1090900"/>
            <a:ext cx="7050534" cy="396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71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6.0 UI to Manage Posters on Display Panel (CRUD)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2" title="6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6738" y="1090900"/>
            <a:ext cx="7050534" cy="396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311700" y="71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7.0 NFC User Management and Gate Access Logic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4" name="Google Shape;234;p33" title="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6738" y="1090900"/>
            <a:ext cx="7050534" cy="396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